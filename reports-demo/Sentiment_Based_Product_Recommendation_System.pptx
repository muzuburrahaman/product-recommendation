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6762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Sentiment-Based Product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System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41148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514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Intelligence for Ebuss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by Shaik Muzubur Rahaman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931920" cy="34747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Context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Ebuss is an e-commerce company such as Amazon, Flipkart, Myntra, and Snapdeal.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span household essentials, books, beauty, health, cosmetics, kitchen, and personal care.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stay competitive, Ebuss must deliver smarter, personalized product recommendations.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914400"/>
            <a:ext cx="4297680" cy="3474720"/>
          </a:xfrm>
          <a:prstGeom prst="rect">
            <a:avLst/>
          </a:prstGeom>
          <a:solidFill>
            <a:srgbClr val="103766"/>
          </a:solidFill>
          <a:ln w="12700">
            <a:solidFill>
              <a:srgbClr val="1037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63440" y="1005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63440" y="1463040"/>
            <a:ext cx="40233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Sentiment-Based Product Recommendation System that: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Analyzes customer reviews via NLP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Filters and ranks top recommendations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Combines collaborative filtering with sentiment scoring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Deploys as a live web application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4251960" cy="1097280"/>
          </a:xfrm>
          <a:prstGeom prst="rect">
            <a:avLst/>
          </a:prstGeom>
          <a:solidFill>
            <a:srgbClr val="132F4C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640080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60120"/>
            <a:ext cx="640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41832" y="10058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&amp; Preprocess Data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41832" y="1399032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EDA, text cleaning, handle missing values &amp; class imbalance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28600" y="2194560"/>
            <a:ext cx="4251960" cy="1097280"/>
          </a:xfrm>
          <a:prstGeom prst="rect">
            <a:avLst/>
          </a:prstGeom>
          <a:solidFill>
            <a:srgbClr val="132F4C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2194560"/>
            <a:ext cx="640080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2194560"/>
            <a:ext cx="640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41832" y="22402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 Model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41832" y="2633472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features + Logistic Regression, Random Forest, XGBoost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28600" y="3429000"/>
            <a:ext cx="4251960" cy="1097280"/>
          </a:xfrm>
          <a:prstGeom prst="rect">
            <a:avLst/>
          </a:prstGeom>
          <a:solidFill>
            <a:srgbClr val="132F4C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3429000"/>
            <a:ext cx="640080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3429000"/>
            <a:ext cx="640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41832" y="34747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41832" y="3867912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User-Based &amp; Item-Based Collaborative Filtering; Top 20 per user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00600" y="960120"/>
            <a:ext cx="4251960" cy="1097280"/>
          </a:xfrm>
          <a:prstGeom prst="rect">
            <a:avLst/>
          </a:prstGeom>
          <a:solidFill>
            <a:srgbClr val="132F4C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960120"/>
            <a:ext cx="640080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960120"/>
            <a:ext cx="640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13832" y="10058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via Sentiment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13832" y="1399032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Top 20 → apply sentiment model → rank to Top 5 products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800600" y="2194560"/>
            <a:ext cx="4251960" cy="1097280"/>
          </a:xfrm>
          <a:prstGeom prst="rect">
            <a:avLst/>
          </a:prstGeom>
          <a:solidFill>
            <a:srgbClr val="132F4C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2194560"/>
            <a:ext cx="640080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2194560"/>
            <a:ext cx="640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513832" y="22402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End-to-End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13832" y="2633472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web app deployed on Heroku / Render with personalized UI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&amp; EDA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926080" cy="1188720"/>
          </a:xfrm>
          <a:prstGeom prst="rect">
            <a:avLst/>
          </a:prstGeom>
          <a:solidFill>
            <a:srgbClr val="0A2342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6012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30,000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74320" y="16459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Reviews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0" y="914400"/>
            <a:ext cx="2651760" cy="1188720"/>
          </a:xfrm>
          <a:prstGeom prst="rect">
            <a:avLst/>
          </a:prstGeom>
          <a:solidFill>
            <a:srgbClr val="0A2342"/>
          </a:solidFill>
          <a:ln w="12700">
            <a:solidFill>
              <a:srgbClr val="F7B73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96012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96.44%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383280" y="16459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 Accuracy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914400"/>
            <a:ext cx="2651760" cy="1188720"/>
          </a:xfrm>
          <a:prstGeom prst="rect">
            <a:avLst/>
          </a:prstGeom>
          <a:solidFill>
            <a:srgbClr val="0A2342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96012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2.55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217920" y="16459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CF RMSE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" y="23317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Preprocessing Steps: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74320" y="2788920"/>
            <a:ext cx="4206240" cy="7315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788920"/>
            <a:ext cx="54864" cy="731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82549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Nulls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311810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reviews_didPurchase, reviews_userCity, reviews_userProvince (high null %)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2788920"/>
            <a:ext cx="4206240" cy="7315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2788920"/>
            <a:ext cx="54864" cy="731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82549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Cleaning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311810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Lowercase, remove punctuation, stopwords, and apply lemmatization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3611880"/>
            <a:ext cx="4206240" cy="7315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611880"/>
            <a:ext cx="54864" cy="731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64845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" y="394106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reviews_text + reviews_title → reviews_combined for analysis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3611880"/>
            <a:ext cx="4206240" cy="7315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3611880"/>
            <a:ext cx="54864" cy="731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64845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Fix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92040" y="394106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misclassified user_sentiment values based on reviews_rating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 Model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3840480"/>
          </a:xfrm>
          <a:prstGeom prst="rect">
            <a:avLst/>
          </a:prstGeom>
          <a:solidFill>
            <a:srgbClr val="132F4C"/>
          </a:solidFill>
          <a:ln w="12700">
            <a:solidFill>
              <a:srgbClr val="F7B73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058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 &amp; Evaluated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832104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Best Model Selected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0" y="18745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Acc: 96.44%  F1: 98.09%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514600"/>
            <a:ext cx="8321040" cy="914400"/>
          </a:xfrm>
          <a:prstGeom prst="rect">
            <a:avLst/>
          </a:prstGeom>
          <a:solidFill>
            <a:srgbClr val="103766"/>
          </a:solidFill>
          <a:ln w="12700">
            <a:solidFill>
              <a:srgbClr val="1037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560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880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but overfit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0" y="28803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Acc: 96.57%  F1: 98.19%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20440"/>
            <a:ext cx="8321040" cy="914400"/>
          </a:xfrm>
          <a:prstGeom prst="rect">
            <a:avLst/>
          </a:prstGeom>
          <a:solidFill>
            <a:srgbClr val="103766"/>
          </a:solidFill>
          <a:ln w="12700">
            <a:solidFill>
              <a:srgbClr val="1037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3566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38862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results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943600" y="38862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Acc: 96.27%  F1: 98.04%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5760" y="434340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Tuning: RandomizedSearchCV + StratifiedKFold + f1_macro scoring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&amp; Evaluation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352044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Train Acc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Test Acc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Train F1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Test F1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Train ROC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Test ROC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2342"/>
                          </a:solidFill>
                        </a:rPr>
                        <a:t>Log. Reg.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2342"/>
                          </a:solidFill>
                        </a:rPr>
                        <a:t>Base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4060"/>
                          </a:solidFill>
                        </a:rPr>
                        <a:t>96.57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4060"/>
                          </a:solidFill>
                        </a:rPr>
                        <a:t>94.50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4060"/>
                          </a:solidFill>
                        </a:rPr>
                        <a:t>98.13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4060"/>
                          </a:solidFill>
                        </a:rPr>
                        <a:t>97.00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4060"/>
                          </a:solidFill>
                        </a:rPr>
                        <a:t>99.65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4060"/>
                          </a:solidFill>
                        </a:rPr>
                        <a:t>96.39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Log. Reg.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7B731"/>
                          </a:solidFill>
                        </a:rPr>
                        <a:t>Tuned ★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99.59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96.44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99.78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98.09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99.99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96.07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2342"/>
                          </a:solidFill>
                        </a:rPr>
                        <a:t>Rnd Forest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2342"/>
                          </a:solidFill>
                        </a:rPr>
                        <a:t>Base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4060"/>
                          </a:solidFill>
                        </a:rPr>
                        <a:t>99.99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4060"/>
                          </a:solidFill>
                        </a:rPr>
                        <a:t>96.57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4060"/>
                          </a:solidFill>
                        </a:rPr>
                        <a:t>99.99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4060"/>
                          </a:solidFill>
                        </a:rPr>
                        <a:t>98.19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4060"/>
                          </a:solidFill>
                        </a:rPr>
                        <a:t>100.0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4060"/>
                          </a:solidFill>
                        </a:rPr>
                        <a:t>95.39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2342"/>
                          </a:solidFill>
                        </a:rPr>
                        <a:t>Rnd Forest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2342"/>
                          </a:solidFill>
                        </a:rPr>
                        <a:t>Tuned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4060"/>
                          </a:solidFill>
                        </a:rPr>
                        <a:t>96.76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4060"/>
                          </a:solidFill>
                        </a:rPr>
                        <a:t>94.58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4060"/>
                          </a:solidFill>
                        </a:rPr>
                        <a:t>98.25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4060"/>
                          </a:solidFill>
                        </a:rPr>
                        <a:t>97.07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4060"/>
                          </a:solidFill>
                        </a:rPr>
                        <a:t>97.95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4060"/>
                          </a:solidFill>
                        </a:rPr>
                        <a:t>93.82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2342"/>
                          </a:solidFill>
                        </a:rPr>
                        <a:t>XGBoost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2342"/>
                          </a:solidFill>
                        </a:rPr>
                        <a:t>Base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4060"/>
                          </a:solidFill>
                        </a:rPr>
                        <a:t>96.23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4060"/>
                          </a:solidFill>
                        </a:rPr>
                        <a:t>95.72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4060"/>
                          </a:solidFill>
                        </a:rPr>
                        <a:t>98.02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4060"/>
                          </a:solidFill>
                        </a:rPr>
                        <a:t>97.75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4060"/>
                          </a:solidFill>
                        </a:rPr>
                        <a:t>97.36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4060"/>
                          </a:solidFill>
                        </a:rPr>
                        <a:t>94.62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2342"/>
                          </a:solidFill>
                        </a:rPr>
                        <a:t>XGBoost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2342"/>
                          </a:solidFill>
                        </a:rPr>
                        <a:t>Tuned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4060"/>
                          </a:solidFill>
                        </a:rPr>
                        <a:t>97.34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4060"/>
                          </a:solidFill>
                        </a:rPr>
                        <a:t>96.27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4060"/>
                          </a:solidFill>
                        </a:rPr>
                        <a:t>98.59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4060"/>
                          </a:solidFill>
                        </a:rPr>
                        <a:t>98.04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4060"/>
                          </a:solidFill>
                        </a:rPr>
                        <a:t>99.03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4060"/>
                          </a:solidFill>
                        </a:rPr>
                        <a:t>95.52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4251960"/>
            <a:ext cx="8595360" cy="5943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Best Model: Logistic Regression (Tuned) — Test Accuracy: 96.44% | Test F1: 98.09% | Selected for deployment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Filtering Recommendation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2926080"/>
          </a:xfrm>
          <a:prstGeom prst="rect">
            <a:avLst/>
          </a:prstGeom>
          <a:solidFill>
            <a:srgbClr val="132F4C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02336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User-User Collaborative Filtering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similar users by their rating history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products liked by similar users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Top 20 personalized recommendations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3474720" cy="731520"/>
          </a:xfrm>
          <a:prstGeom prst="rect">
            <a:avLst/>
          </a:prstGeom>
          <a:solidFill>
            <a:srgbClr val="0A2342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7432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RMSE: 2.55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011680" y="27432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Model 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35661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correlation-based user similarity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914400"/>
            <a:ext cx="4297680" cy="2926080"/>
          </a:xfrm>
          <a:prstGeom prst="rect">
            <a:avLst/>
          </a:prstGeom>
          <a:solidFill>
            <a:srgbClr val="132F4C"/>
          </a:solidFill>
          <a:ln w="12700">
            <a:solidFill>
              <a:srgbClr val="6B8CA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914400"/>
            <a:ext cx="4297680" cy="457200"/>
          </a:xfrm>
          <a:prstGeom prst="rect">
            <a:avLst/>
          </a:prstGeom>
          <a:solidFill>
            <a:srgbClr val="6B8CAE"/>
          </a:solidFill>
          <a:ln w="12700">
            <a:solidFill>
              <a:srgbClr val="6B8C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9144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Item-Item Collaborative Filtering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63440" y="146304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similar products by user rating patterns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items similar to what user rated highly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RMSE — less suitable for this dataset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846320" y="2743200"/>
            <a:ext cx="3474720" cy="731520"/>
          </a:xfrm>
          <a:prstGeom prst="rect">
            <a:avLst/>
          </a:prstGeom>
          <a:solidFill>
            <a:srgbClr val="0A2342"/>
          </a:solidFill>
          <a:ln w="12700">
            <a:solidFill>
              <a:srgbClr val="6B8CA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27432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RMSE: 3.55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92240" y="27432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Selected ✗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63440" y="356616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similarity-based item matching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977640"/>
            <a:ext cx="8595360" cy="868680"/>
          </a:xfrm>
          <a:prstGeom prst="rect">
            <a:avLst/>
          </a:prstGeom>
          <a:solidFill>
            <a:srgbClr val="103766"/>
          </a:solidFill>
          <a:ln w="12700">
            <a:solidFill>
              <a:srgbClr val="1037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97764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User-User model outperformed Item-Item by 28% in RMSE — producing more relevant and personalized recommendations.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Recommendation System — How It Works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1600200" cy="2194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" y="105156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82880" y="16916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2880" y="219456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existing username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810512" y="1920240"/>
            <a:ext cx="118872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65960" y="1005840"/>
            <a:ext cx="1600200" cy="2194560"/>
          </a:xfrm>
          <a:prstGeom prst="rect">
            <a:avLst/>
          </a:prstGeom>
          <a:solidFill>
            <a:srgbClr val="103766"/>
          </a:solidFill>
          <a:ln w="12700">
            <a:solidFill>
              <a:srgbClr val="1037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65960" y="105156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965960" y="16916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 Recs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65960" y="219456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User-User CF generates 20 candidates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593592" y="1920240"/>
            <a:ext cx="118872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0" y="1005840"/>
            <a:ext cx="1600200" cy="2194560"/>
          </a:xfrm>
          <a:prstGeom prst="rect">
            <a:avLst/>
          </a:prstGeom>
          <a:solidFill>
            <a:srgbClr val="103766"/>
          </a:solidFill>
          <a:ln w="12700">
            <a:solidFill>
              <a:srgbClr val="1037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49040" y="105156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3749040" y="16916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Score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49040" y="219456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rates each product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376672" y="1920240"/>
            <a:ext cx="118872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32120" y="1005840"/>
            <a:ext cx="1600200" cy="2194560"/>
          </a:xfrm>
          <a:prstGeom prst="rect">
            <a:avLst/>
          </a:prstGeom>
          <a:solidFill>
            <a:srgbClr val="103766"/>
          </a:solidFill>
          <a:ln w="12700">
            <a:solidFill>
              <a:srgbClr val="1037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532120" y="105156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5532120" y="16916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32120" y="219456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% positive sentiment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159752" y="1920240"/>
            <a:ext cx="118872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0" y="1005840"/>
            <a:ext cx="1600200" cy="2194560"/>
          </a:xfrm>
          <a:prstGeom prst="rect">
            <a:avLst/>
          </a:prstGeom>
          <a:solidFill>
            <a:srgbClr val="1C5C3A"/>
          </a:solidFill>
          <a:ln w="12700">
            <a:solidFill>
              <a:srgbClr val="1C5C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15200" y="105156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7315200" y="16916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Output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0" y="219456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products displayed to user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3429000"/>
            <a:ext cx="4114800" cy="1417320"/>
          </a:xfrm>
          <a:prstGeom prst="rect">
            <a:avLst/>
          </a:prstGeom>
          <a:solidFill>
            <a:srgbClr val="0A2342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65760" y="349300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Approach Works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65760" y="3858768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personalization (CF) with quality filtering (sentiment) ensures users receive products that are both relevant to their profile AND well-received by other buyers.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617720" y="3429000"/>
            <a:ext cx="4251960" cy="1417320"/>
          </a:xfrm>
          <a:prstGeom prst="rect">
            <a:avLst/>
          </a:prstGeom>
          <a:solidFill>
            <a:srgbClr val="0A2342"/>
          </a:solidFill>
          <a:ln w="12700">
            <a:solidFill>
              <a:srgbClr val="F7B73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09160" y="349300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 &amp; Scope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709160" y="3858768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operates on a fixed product and user base. No new users or products are introduced during prediction — ensuring model stability and consistent output quality.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Deployment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011680" cy="2560320"/>
          </a:xfrm>
          <a:prstGeom prst="rect">
            <a:avLst/>
          </a:prstGeom>
          <a:solidFill>
            <a:srgbClr val="1A4971"/>
          </a:solidFill>
          <a:ln w="12700">
            <a:solidFill>
              <a:srgbClr val="1A497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60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463040"/>
            <a:ext cx="173736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54480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JavaScript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username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Top 5 products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286000" y="182880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914400"/>
            <a:ext cx="2011680" cy="2560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50592" y="960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Backend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587752" y="1463040"/>
            <a:ext cx="173736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42032" y="1554480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routes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inference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logic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462272" y="182880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626864" y="914400"/>
            <a:ext cx="2011680" cy="2560320"/>
          </a:xfrm>
          <a:prstGeom prst="rect">
            <a:avLst/>
          </a:prstGeom>
          <a:solidFill>
            <a:srgbClr val="1C5C3A"/>
          </a:solidFill>
          <a:ln w="12700">
            <a:solidFill>
              <a:srgbClr val="1C5C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26864" y="960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64024" y="1463040"/>
            <a:ext cx="173736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8304" y="1554480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Vectorizer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User-User CF Matrix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638544" y="182880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803136" y="914400"/>
            <a:ext cx="2011680" cy="2560320"/>
          </a:xfrm>
          <a:prstGeom prst="rect">
            <a:avLst/>
          </a:prstGeom>
          <a:solidFill>
            <a:srgbClr val="5C3A1C"/>
          </a:solidFill>
          <a:ln w="12700">
            <a:solidFill>
              <a:srgbClr val="5C3A1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03136" y="960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940296" y="1463040"/>
            <a:ext cx="173736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94576" y="1554480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Heroku / Render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hosting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74320" y="3657600"/>
            <a:ext cx="8595360" cy="502920"/>
          </a:xfrm>
          <a:prstGeom prst="rect">
            <a:avLst/>
          </a:prstGeom>
          <a:solidFill>
            <a:srgbClr val="132F4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57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User Input  →  TF-IDF Transform  →  Logistic Regression  →  CF Recommendation  →  Top 5 UI Display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— Valid User Case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9611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exists in the system → Top 5 recommended products are retrieved and displayed.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95493"/>
            <a:ext cx="8412480" cy="3291840"/>
          </a:xfrm>
          <a:prstGeom prst="rect">
            <a:avLst/>
          </a:prstGeom>
          <a:solidFill>
            <a:srgbClr val="132F4C"/>
          </a:solidFill>
          <a:ln w="1905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365760" y="16459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65760" y="3063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59" y="4606205"/>
            <a:ext cx="841248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754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User Found  →  Top 5 Products Returned Successfully</a:t>
            </a:r>
            <a:endParaRPr lang="en-US" sz="13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9E2A572-57D9-6057-0A1B-E254DB12AE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4586" y="1261871"/>
            <a:ext cx="5174825" cy="318613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— Invalid User Case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9611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does not exist in the system → "User is not found" error message is returned.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8412480" cy="3291840"/>
          </a:xfrm>
          <a:prstGeom prst="rect">
            <a:avLst/>
          </a:prstGeom>
          <a:solidFill>
            <a:srgbClr val="132F4C"/>
          </a:solidFill>
          <a:ln w="19050">
            <a:solidFill>
              <a:srgbClr val="B850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6459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26060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3063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4599432"/>
            <a:ext cx="8412480" cy="5029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754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User Not Found  →  "User is not found" Message Displayed</a:t>
            </a:r>
            <a:endParaRPr lang="en-US" sz="13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7C36925-7DB6-B164-C4E5-777F20CCA4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1805" y="1307593"/>
            <a:ext cx="6340389" cy="319667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Key Takeaways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4251960" cy="1143000"/>
          </a:xfrm>
          <a:prstGeom prst="rect">
            <a:avLst/>
          </a:prstGeom>
          <a:solidFill>
            <a:srgbClr val="132F4C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914400"/>
            <a:ext cx="777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05840" y="914400"/>
            <a:ext cx="36576" cy="1143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06424" y="10058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at Scale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06424" y="13716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30,000 reviews cleaned, preprocessed, and converted to ML-ready features using TF-IDF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914400"/>
            <a:ext cx="4251960" cy="1143000"/>
          </a:xfrm>
          <a:prstGeom prst="rect">
            <a:avLst/>
          </a:prstGeom>
          <a:solidFill>
            <a:srgbClr val="132F4C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914400"/>
            <a:ext cx="777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5577840" y="914400"/>
            <a:ext cx="36576" cy="1143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78424" y="10058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Best-in-Class Sentiment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678424" y="13716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Logistic Regression achieved 96.44% accuracy &amp; 98.09% F1-score — robust and generalizable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2194560"/>
            <a:ext cx="4251960" cy="1143000"/>
          </a:xfrm>
          <a:prstGeom prst="rect">
            <a:avLst/>
          </a:prstGeom>
          <a:solidFill>
            <a:srgbClr val="132F4C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28600" y="2194560"/>
            <a:ext cx="777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005840" y="2194560"/>
            <a:ext cx="36576" cy="1143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6424" y="22860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Recommendations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06424" y="26517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User-User CF (RMSE: 2.55) outperformed Item-Item CF by 28% — selected for the final system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2194560"/>
            <a:ext cx="4251960" cy="1143000"/>
          </a:xfrm>
          <a:prstGeom prst="rect">
            <a:avLst/>
          </a:prstGeom>
          <a:solidFill>
            <a:srgbClr val="132F4C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00600" y="2194560"/>
            <a:ext cx="777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5577840" y="2194560"/>
            <a:ext cx="36576" cy="1143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78424" y="22860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Intelligence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78424" y="26517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CF with sentiment scoring delivers Top 5 products that are both relevant AND highly rated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8600" y="3474720"/>
            <a:ext cx="4251960" cy="1143000"/>
          </a:xfrm>
          <a:prstGeom prst="rect">
            <a:avLst/>
          </a:prstGeom>
          <a:solidFill>
            <a:srgbClr val="132F4C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28600" y="3474720"/>
            <a:ext cx="777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1005840" y="3474720"/>
            <a:ext cx="36576" cy="1143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06424" y="35661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Deployment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06424" y="3931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Flask web app deployed on cloud — live, interactive, and production-ready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3474720"/>
            <a:ext cx="4251960" cy="1143000"/>
          </a:xfrm>
          <a:prstGeom prst="rect">
            <a:avLst/>
          </a:prstGeom>
          <a:solidFill>
            <a:srgbClr val="132F4C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00600" y="3474720"/>
            <a:ext cx="777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5577840" y="3474720"/>
            <a:ext cx="36576" cy="1143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78424" y="35661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678424" y="3931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 Ebuss to compete with Amazon/Flipkart using data-driven, user-centric recommendations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03766"/>
          </a:solidFill>
          <a:ln w="12700">
            <a:solidFill>
              <a:srgbClr val="1037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Sentiment-Based Product Recommendation System | Ebuss E-Commerce | ML Capstone Project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2286000" y="2331720"/>
            <a:ext cx="4572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Sentiment-Based Product Recommendation System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by Shaik Muzubur Rahaman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895</Words>
  <Application>Microsoft Office PowerPoint</Application>
  <PresentationFormat>On-screen Show (16:9)</PresentationFormat>
  <Paragraphs>224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Sentiment-Based Product Recommendation System</dc:title>
  <dc:subject>PptxGenJS Presentation</dc:subject>
  <dc:creator>Shaik</dc:creator>
  <cp:lastModifiedBy>muzubur rahaman</cp:lastModifiedBy>
  <cp:revision>4</cp:revision>
  <dcterms:created xsi:type="dcterms:W3CDTF">2026-02-28T22:51:11Z</dcterms:created>
  <dcterms:modified xsi:type="dcterms:W3CDTF">2026-03-01T05:06:49Z</dcterms:modified>
</cp:coreProperties>
</file>